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Overall Subscription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Deposit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213-457C-A2DD-AE32BB99D203}"/>
              </c:ext>
            </c:extLst>
          </c:dPt>
          <c:dPt>
            <c:idx val="1"/>
            <c:bubble3D val="0"/>
            <c:spPr>
              <a:solidFill>
                <a:srgbClr val="D0D5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13-457C-A2DD-AE32BB99D20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213-457C-A2DD-AE32BB99D20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213-457C-A2DD-AE32BB99D20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Subscribed (Yes)</c:v>
                </c:pt>
                <c:pt idx="1">
                  <c:v>Not Subscribed (No)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5289</c:v>
                </c:pt>
                <c:pt idx="1">
                  <c:v>5873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13-457C-A2DD-AE32BB99D2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771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Case Study — Week 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 Dataset  •  11,162 Customers  •  17 Variables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Internship  |  Week 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4133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Abioye Stephen Ayodeji  •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challenge is the bank trying to solve?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 some customers subscribe to term deposits while others do not — and which segments should the bank prioritise to maximise conversion and reduce wasted campaign spend?"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450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4505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campaign 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688336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non-converting customers wastes agent time and budget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108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targeting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346704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customer segments treated equally despite very different conversion rates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9417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767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7673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inefficiency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005072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run heavily in low-conversion months like May (32.8%)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35254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44256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44256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gaps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663440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contact methods result in only 22.6% conversion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 Dataset — 11,162 customer records from a Portuguese banking institution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11,162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7556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14300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17556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9933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17556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9933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subscription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14300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17556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19933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65760" y="2606040"/>
          <a:ext cx="38404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4389120" y="2606040"/>
            <a:ext cx="43891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2628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 Categories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0" y="306324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4632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Age, Job, Marital, Education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0" y="341071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46320" y="3364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Balance, Housing Loan, Personal Loan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0" y="375818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4632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 Contact Method, Month, Call Duration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0" y="41056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46320" y="40599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Previous: Prior campaign outcome (poutcome)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0" y="445312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46320" y="44074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deposit — yes or no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E7DE1B-810F-7CAF-906F-63A46ECE3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7" b="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0F8E320-043F-0057-6946-748DEEA5DF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critical findings from the Bank Marketing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2618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Success = 91.3% Re-conversion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strongest predictor. Customers who subscribed before will almost certainly subscribe again.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261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0" y="12618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Retirees Are High-Value Segments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57276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74.7% and 66.3% conversion rates — far above the 47.4% average. Significantly underserved.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450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4505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U-Shaped Age Pattern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76148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Under-25s convert at 73.4% and 65+ at 80.2%. Middle-aged (35–54) are the hardest segment at ~41%.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6394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450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0" y="24505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Timing is Poorly Optimised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76148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(90.9%), March (89.9%), September (84.3%) and October (82.4%) are best. May (32.8%) is worst yet likely heaviest.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639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36393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Calls = More Subscriptions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95020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averaged 537 seconds vs 223 for non-subscribers. Engagement quality drives outcomes.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6394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3639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03520" y="36393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Burden Kills Conversion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395020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housing loans convert at 36.6% vs 57.0% for debt-free. Existing obligations are a barrier.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actionable steps to improve campaign ROI and subscription rates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43584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1316736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E63946">
              <a:alpha val="20000"/>
            </a:srgbClr>
          </a:solidFill>
          <a:ln w="12700">
            <a:solidFill>
              <a:srgbClr val="E6394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31673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64208" y="1234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Priority Re-Engagement List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64208" y="146304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previous subscribers first — 91.3% re-conversion rate. Highest ROI activity available.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92224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192024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E63946">
              <a:alpha val="20000"/>
            </a:srgbClr>
          </a:solidFill>
          <a:ln w="12700">
            <a:solidFill>
              <a:srgbClr val="E6394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19202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64208" y="18379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Realign Campaign Calendar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64208" y="206654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 March, Sep, Oct, Dec. Reduce May campaigns. Same budget, dramatically better results.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95728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450592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2523744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E63946">
              <a:alpha val="20000"/>
            </a:srgbClr>
          </a:solidFill>
          <a:ln w="12700">
            <a:solidFill>
              <a:srgbClr val="E6394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252374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64208" y="24414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Campaigns for Students &amp; Retirees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64208" y="2670048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messaging and products to these two high-converting, underserved segments.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99923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054096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" y="3127248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0120" y="312724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64208" y="30449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Agents for Longer Engagement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64208" y="327355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7–9 minute calls for warm prospects. Longer conversations consistently yield subscriptions.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602736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657600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60120" y="3730752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0120" y="373075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64208" y="36484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CRM Data Quality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64208" y="3877056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valid cellular numbers before campaign listing. Close the 31-point contact method gap.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20624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4261104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60120" y="4334256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60120" y="433425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664208" y="4251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De-prioritise High-Debt Profiles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664208" y="448056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dual-loan customers to lower priority. Reallocate resources to debt-free segments (57% conversion).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2926080"/>
            <a:ext cx="2560320" cy="256032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targeting, not more calls, is the path to better conversion.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bank's best customers are already identified — previous subscribers (91.3% re-conversion) are a near-guaranteed revenue source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35000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campaign timing to high-conversion months can dramatically improve results without increasing budget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82549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retired customers are a high-value, underserved segment that deserves dedicated campaign investment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30098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and CRM hygiene directly impact conversion — unknown contacts convert at less than half the rate of cellular contacts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7764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engagement quality, measured through call duration, is a controllable lever that training can improve immediately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5  |  July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43159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Abioye Stephen Ayodeji  •  github.com/Stephenabioye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644</Words>
  <Application>Microsoft Office PowerPoint</Application>
  <PresentationFormat>On-screen Show (16:9)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Stephen Abioye</cp:lastModifiedBy>
  <cp:revision>2</cp:revision>
  <dcterms:created xsi:type="dcterms:W3CDTF">2026-07-03T21:29:56Z</dcterms:created>
  <dcterms:modified xsi:type="dcterms:W3CDTF">2026-07-08T10:19:45Z</dcterms:modified>
</cp:coreProperties>
</file>